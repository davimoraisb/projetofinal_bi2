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5164A7-AB62-59E5-E706-38DDD1D1B93F}" v="77" dt="2026-06-23T11:28:17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A12A2-01EF-4E89-9141-1031DB415E5D}" type="datetimeFigureOut">
              <a:t>23/06/2026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FE05BA-8867-494C-81E5-58065B603243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1722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dupla e tema —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Problema, hipóteses, critério de sucesso e stakeholders — estes três últimos se conectam diretamente ao 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Destacar vinculação explícita entre KRs e KPIs — isso é o que o professor avalia.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Destacar a coluna calculada hemisferio em dim_localizacao — é a base do 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Focar na tipagem en-US — detalhe técnico que evita erros silenciosos com ponto decimal.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Destacar crescimento_yoy_terremotos: VAR/RETURN + ISBLANK + DIVIDE. O professor costuma perguntar.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DEMONSTRAR ao vivo a troca de papel. Mostrar que com Analista Sul o Brasil aparece; com Norte não.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PRINCIPAL. Abrir Power BI Desktop com o .pbip do GitHub. Navegar pelas 3 páginas. Tempo sugerido: 3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seg. Fechar com a frase do Pedro Mello — mostra que leram o material. Abrir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vimoraisb/projetofinal_bi2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840480" cy="384048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834640"/>
            <a:ext cx="4114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II — CEUB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Analytics Dashboard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eventos sísmicos globais · Dados USGS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Morais Bicalho · Matheus Perfeito Silveira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Problema de Negócio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Monitoramento Geofísico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45720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167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1536192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BI de um centro de monitoramento sísmico precisa de visão unificada dos dados USGS para apoiar decisões de gestão de risco e resposta a emergências.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316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DO NEGÓCIO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846320" y="1591056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6362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se concentram terremotos de maior magnitude?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89280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frequência de eventos está crescendo no tempo?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249424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22199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% dos eventos passou por revisão científica?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35808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1181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5800" y="3337560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Anel de Fogo = maior concentração de magnitude alta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automáticos têm precisão menor que revisados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baixa → maior impacto na superfície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035808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118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SUCESSO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46320" y="3337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utilizado pelo gestor para priorizar recursos de resposta em &lt; 24h após evento sísmico de magnitude ≥ 6.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736592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4818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 Diretor do centro (visão executiva)  ·  Analista Norte  ·  Analista Sul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KPIs &amp; OKRs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medimos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61872"/>
            <a:ext cx="157276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35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5488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Eventos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956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qtd_total_terremotos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93976" y="1261872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93976" y="1261872"/>
            <a:ext cx="157276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85416" y="1335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185416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Média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185416" y="1956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magnitude_media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85416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Richter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03904" y="1261872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03904" y="1261872"/>
            <a:ext cx="157276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344" y="1335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95344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Revisados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95344" y="1956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percentual_terremotos_revisados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95344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513832" y="1261872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13832" y="1261872"/>
            <a:ext cx="157276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05272" y="1335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05272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YoY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05272" y="1956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crescimento_yoy_terremotos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05272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23760" y="1261872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1261872"/>
            <a:ext cx="157276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1335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315200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Locais Únicos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15200" y="1956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qtd_locais_unicos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4048" y="2834640"/>
            <a:ext cx="8375904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4048" y="2834640"/>
            <a:ext cx="45720" cy="82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2833551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O1 — </a:t>
            </a:r>
            <a:r>
              <a:rPr lang="en-US" sz="1050" b="1" dirty="0">
                <a:solidFill>
                  <a:srgbClr val="FFFFFF"/>
                </a:solidFill>
                <a:ea typeface="+mn-lt"/>
                <a:cs typeface="+mn-lt"/>
              </a:rPr>
              <a:t>OKR 1: Foco </a:t>
            </a:r>
            <a:r>
              <a:rPr lang="en-US" sz="1050" b="1" dirty="0" err="1">
                <a:solidFill>
                  <a:srgbClr val="FFFFFF"/>
                </a:solidFill>
                <a:ea typeface="+mn-lt"/>
                <a:cs typeface="+mn-lt"/>
              </a:rPr>
              <a:t>em</a:t>
            </a:r>
            <a:r>
              <a:rPr lang="en-US" sz="1050" b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ea typeface="+mn-lt"/>
                <a:cs typeface="+mn-lt"/>
              </a:rPr>
              <a:t>Excelência</a:t>
            </a:r>
            <a:r>
              <a:rPr lang="en-US" sz="1050" b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ea typeface="+mn-lt"/>
                <a:cs typeface="+mn-lt"/>
              </a:rPr>
              <a:t>Científica</a:t>
            </a:r>
            <a:r>
              <a:rPr lang="en-US" sz="1050" b="1" dirty="0">
                <a:solidFill>
                  <a:srgbClr val="FFFFFF"/>
                </a:solidFill>
                <a:ea typeface="+mn-lt"/>
                <a:cs typeface="+mn-lt"/>
              </a:rPr>
              <a:t> e </a:t>
            </a:r>
            <a:r>
              <a:rPr lang="en-US" sz="1050" b="1" dirty="0" err="1">
                <a:solidFill>
                  <a:srgbClr val="FFFFFF"/>
                </a:solidFill>
                <a:ea typeface="+mn-lt"/>
                <a:cs typeface="+mn-lt"/>
              </a:rPr>
              <a:t>Confiabilidade</a:t>
            </a:r>
            <a:r>
              <a:rPr lang="en-US" sz="1050" b="1" dirty="0">
                <a:solidFill>
                  <a:srgbClr val="FFFFFF"/>
                </a:solidFill>
                <a:ea typeface="+mn-lt"/>
                <a:cs typeface="+mn-lt"/>
              </a:rPr>
              <a:t> dos Dados</a:t>
            </a:r>
            <a:endParaRPr lang="en-US" sz="1050" dirty="0">
              <a:ea typeface="+mn-lt"/>
              <a:cs typeface="+mn-lt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6928" y="3313176"/>
            <a:ext cx="8046720" cy="184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KR1: Sair de 99,95% e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atingir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100% de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terremotos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revisados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(reviewed)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manualmente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especialistas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até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fim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trimestre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. KPI: Percentual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Terremotos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Revisados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   ·   </a:t>
            </a:r>
            <a:endParaRPr lang="en-US" sz="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KR2: 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Garantir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100% dos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eventos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classificados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como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"Great" (Magnitude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maior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ou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igual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a 8.0)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tenham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seus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dados de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profundidade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preenchidos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sem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valores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nulos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até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2 horas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após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evento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.</a:t>
            </a:r>
            <a:br>
              <a:rPr lang="en-US" sz="800" dirty="0">
                <a:latin typeface="Calibri"/>
                <a:ea typeface="Calibri"/>
                <a:cs typeface="Calibri"/>
              </a:rPr>
            </a:b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KPI: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Filtro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"Classe de Magnitude" e visual "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Profundidade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Média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   ·   </a:t>
            </a:r>
            <a:endParaRPr lang="en-US" sz="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KR3: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Reduzir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a zero o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número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registros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com o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tipo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magnitude (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mag_type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catalogado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como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"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desconhecido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"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até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o final do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ano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Segmentador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dados "</a:t>
            </a:r>
            <a:r>
              <a:rPr lang="en-US" sz="80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Filtro</a:t>
            </a:r>
            <a:r>
              <a:rPr lang="en-US" sz="80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: Tipo de Magnitude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"</a:t>
            </a:r>
            <a:b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</a:br>
            <a:endParaRPr lang="en-US" sz="850" dirty="0">
              <a:solidFill>
                <a:srgbClr val="6B8CA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00376" y="3822192"/>
            <a:ext cx="8343248" cy="1138645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" y="3822192"/>
            <a:ext cx="45720" cy="822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3913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O2 — Foco </a:t>
            </a:r>
            <a:r>
              <a:rPr lang="en-US" sz="10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Prontidão</a:t>
            </a: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Operacional</a:t>
            </a: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0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Defesa</a:t>
            </a: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Civil</a:t>
            </a:r>
            <a:br>
              <a:rPr lang="en-US" sz="1050" b="1" dirty="0">
                <a:latin typeface="Calibri"/>
                <a:ea typeface="Calibri" pitchFamily="34" charset="-122"/>
                <a:cs typeface="Calibri"/>
              </a:rPr>
            </a:br>
            <a:endParaRPr lang="en-US" sz="105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66928" y="4366042"/>
            <a:ext cx="8046720" cy="20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KR 2.1: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Identificar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reportar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tempo real 100% das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anomalias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onde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Crescimento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Anual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Terremotos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uma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mesma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região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ultrapasse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barreira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histórica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5%.</a:t>
            </a:r>
            <a:b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</a:b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KPI: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Cartão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"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Crescimento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Anual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Terremotos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(3,67%)"</a:t>
            </a:r>
            <a:b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</a:b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KR 2.2: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Isolar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geograficamente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gerar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relatórios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impacto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todas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as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regiões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registrarem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terremotos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Magnitude Máxima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acima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7.0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profundidades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rasas (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menores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50 km).</a:t>
            </a:r>
            <a:b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</a:b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KPI: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Cartões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"Magnitude Máxima (9,50)", "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Profundidade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Média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" e o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mapa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dispersão</a:t>
            </a:r>
            <a:b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</a:b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KR 2.3: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Reduzir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o tempo de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triagem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dados de 15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minutos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menos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3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minutos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através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uso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dos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filtros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classes de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impacto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("Great", "Major", "Strong").</a:t>
            </a:r>
            <a:b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</a:b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KPI: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Botões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navegação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sz="850" dirty="0" err="1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filtro</a:t>
            </a:r>
            <a:r>
              <a:rPr lang="en-US" sz="850" dirty="0">
                <a:solidFill>
                  <a:srgbClr val="6B8CAE"/>
                </a:solidFill>
                <a:latin typeface="Calibri"/>
                <a:ea typeface="Calibri"/>
                <a:cs typeface="Calibri"/>
              </a:rPr>
              <a:t> de "Classe de Magnitude"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Modelagem Dimensional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1 Fato · 4 Dimensões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0" y="1417320"/>
            <a:ext cx="2743200" cy="2423160"/>
          </a:xfrm>
          <a:prstGeom prst="roundRect">
            <a:avLst>
              <a:gd name="adj" fmla="val 3396"/>
            </a:avLst>
          </a:prstGeom>
          <a:solidFill>
            <a:srgbClr val="0D2B4A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490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fato_terremotos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37560" y="18288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usgs_id (PK)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37560" y="20848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depth_km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37560" y="23408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37560" y="25968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id_status (FK)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28529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id_mag (FK)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3108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id_loc (FK)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3364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id_calendario (FK)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554480"/>
            <a:ext cx="2084832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dim_calendario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" y="1938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id_calendario (PK)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2212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year · month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67712" y="2048256"/>
            <a:ext cx="932688" cy="9144"/>
          </a:xfrm>
          <a:prstGeom prst="line">
            <a:avLst/>
          </a:prstGeom>
          <a:noFill/>
          <a:ln w="12700">
            <a:solidFill>
              <a:srgbClr val="6B8CAE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182880" y="3200400"/>
            <a:ext cx="2084832" cy="1280160"/>
          </a:xfrm>
          <a:prstGeom prst="roundRect">
            <a:avLst>
              <a:gd name="adj" fmla="val 5714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2608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dim_localizacao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id_loc (PK)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· lon · location_desc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2608" y="4133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hemisferio (calculada)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67712" y="3840480"/>
            <a:ext cx="932688" cy="9144"/>
          </a:xfrm>
          <a:prstGeom prst="line">
            <a:avLst/>
          </a:prstGeom>
          <a:noFill/>
          <a:ln w="12700">
            <a:solidFill>
              <a:srgbClr val="6B8CAE"/>
            </a:solidFill>
            <a:prstDash val="sysDot"/>
          </a:ln>
        </p:spPr>
      </p:sp>
      <p:sp>
        <p:nvSpPr>
          <p:cNvPr id="24" name="Shape 22"/>
          <p:cNvSpPr/>
          <p:nvPr/>
        </p:nvSpPr>
        <p:spPr>
          <a:xfrm>
            <a:off x="6172200" y="1554480"/>
            <a:ext cx="2084832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81928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dim_classificacao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81928" y="1938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id_mag (PK)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81928" y="2212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mag_type · magnitude_class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0" y="2048256"/>
            <a:ext cx="228600" cy="9144"/>
          </a:xfrm>
          <a:prstGeom prst="line">
            <a:avLst/>
          </a:prstGeom>
          <a:noFill/>
          <a:ln w="12700">
            <a:solidFill>
              <a:srgbClr val="6B8CAE"/>
            </a:solidFill>
            <a:prstDash val="sysDot"/>
          </a:ln>
        </p:spPr>
      </p:sp>
      <p:sp>
        <p:nvSpPr>
          <p:cNvPr id="29" name="Shape 27"/>
          <p:cNvSpPr/>
          <p:nvPr/>
        </p:nvSpPr>
        <p:spPr>
          <a:xfrm>
            <a:off x="6172200" y="3200400"/>
            <a:ext cx="2084832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81928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dim_status_revisao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81928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id_status (PK)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81928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review_status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0" y="3694176"/>
            <a:ext cx="228600" cy="9144"/>
          </a:xfrm>
          <a:prstGeom prst="line">
            <a:avLst/>
          </a:prstGeom>
          <a:noFill/>
          <a:ln w="12700">
            <a:solidFill>
              <a:srgbClr val="6B8CAE"/>
            </a:solidFill>
            <a:prstDash val="sysDot"/>
          </a:ln>
        </p:spPr>
      </p:sp>
      <p:sp>
        <p:nvSpPr>
          <p:cNvPr id="34" name="Shape 32"/>
          <p:cNvSpPr/>
          <p:nvPr/>
        </p:nvSpPr>
        <p:spPr>
          <a:xfrm>
            <a:off x="365760" y="4754880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" y="48371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Granularidade: 1 linha = 1 evento sísmico  ·  Chaves surrogadas com passo variável por dimensão  ·  Sem snowflake, sem many-to-many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ETL — Power Query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CSV bruto ao Star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1572768" cy="16002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353312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716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CSV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1579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UTF-8, vírgula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colunas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21408" y="1261872"/>
            <a:ext cx="1572768" cy="16002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353312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3716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9456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en-US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21579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lat, lon, depth, mag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decimal correto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58768" y="1261872"/>
            <a:ext cx="1572768" cy="16002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353312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3716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Deduplicação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31920" y="21579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combinação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colunas-chave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96128" y="1261872"/>
            <a:ext cx="1572768" cy="16002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353312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3716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21579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Extrai, remove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duplicatas, índice SK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33488" y="1261872"/>
            <a:ext cx="1572768" cy="16002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09560" y="1353312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13716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(FK)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06640" y="21579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Outer Join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dim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" y="2999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GERADAS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329184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fato_terremotos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121408" y="329184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19456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dim_calendario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58768" y="329184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93192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dim_localizacao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96128" y="329184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6928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dim_classificacao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33488" y="329184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0664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dim_status_revisao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4048" y="3858768"/>
            <a:ext cx="8375904" cy="950976"/>
          </a:xfrm>
          <a:prstGeom prst="roundRect">
            <a:avLst>
              <a:gd name="adj" fmla="val 7692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4360" y="39319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APLICADAS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" y="4251960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" y="4224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em todas as colunas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92040" y="4251960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65776" y="4224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e duplicatas tratados explicitamente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4360" y="4544568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" y="4517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Localidade en-US na tipagem (evita erro decimal)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92040" y="4544568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65776" y="4517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medidas separada (medidas.tmdl)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Medidas DAX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medidas · 3 categorias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31673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84048" y="19385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(Agregação)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0" y="1261872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31673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60320" y="19385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6592" y="1261872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131673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36592" y="19385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Filtros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12864" y="1261872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12864" y="131673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912864" y="19385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596896"/>
            <a:ext cx="2788920" cy="2249424"/>
          </a:xfrm>
          <a:prstGeom prst="roundRect">
            <a:avLst>
              <a:gd name="adj" fmla="val 3252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596896"/>
            <a:ext cx="27889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2670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" y="2999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COUNT(fato_terremotos[usgs_id])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" y="34472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AVERAGE([magnitude])  /  MAX([magnitude])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" y="4298115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C8DFF0"/>
                </a:solidFill>
                <a:latin typeface="Courier New"/>
                <a:ea typeface="Courier New" pitchFamily="34" charset="-122"/>
                <a:cs typeface="Courier New"/>
              </a:rPr>
              <a:t>TOTALYTD([</a:t>
            </a:r>
            <a:r>
              <a:rPr lang="en-US" sz="850" dirty="0" err="1">
                <a:solidFill>
                  <a:srgbClr val="C8DFF0"/>
                </a:solidFill>
                <a:latin typeface="Courier New"/>
                <a:ea typeface="Courier New" pitchFamily="34" charset="-122"/>
                <a:cs typeface="Courier New"/>
              </a:rPr>
              <a:t>qtd_total_terremotos</a:t>
            </a:r>
            <a:r>
              <a:rPr lang="en-US" sz="850" dirty="0">
                <a:solidFill>
                  <a:srgbClr val="C8DFF0"/>
                </a:solidFill>
                <a:latin typeface="Courier New"/>
                <a:ea typeface="Courier New" pitchFamily="34" charset="-122"/>
                <a:cs typeface="Courier New"/>
              </a:rPr>
              <a:t>], </a:t>
            </a:r>
            <a:r>
              <a:rPr lang="en-US" sz="850" dirty="0" err="1">
                <a:solidFill>
                  <a:srgbClr val="C8DFF0"/>
                </a:solidFill>
                <a:latin typeface="Courier New"/>
                <a:ea typeface="Courier New" pitchFamily="34" charset="-122"/>
                <a:cs typeface="Courier New"/>
              </a:rPr>
              <a:t>dim_calendario</a:t>
            </a:r>
            <a:r>
              <a:rPr lang="en-US" sz="850" dirty="0">
                <a:solidFill>
                  <a:srgbClr val="C8DFF0"/>
                </a:solidFill>
                <a:latin typeface="Courier New"/>
                <a:ea typeface="Courier New" pitchFamily="34" charset="-122"/>
                <a:cs typeface="Courier New"/>
              </a:rPr>
              <a:t>[date])
</a:t>
            </a:r>
            <a:endParaRPr lang="pt-BR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3776" y="43434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DISTINCTCOUNT([location_desc])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0128" y="2596896"/>
            <a:ext cx="2788920" cy="2249424"/>
          </a:xfrm>
          <a:prstGeom prst="roundRect">
            <a:avLst>
              <a:gd name="adj" fmla="val 3252"/>
            </a:avLst>
          </a:prstGeom>
          <a:solidFill>
            <a:srgbClr val="112240"/>
          </a:solidFill>
          <a:ln w="15240">
            <a:solidFill>
              <a:srgbClr val="FF6B6B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10128" y="2596896"/>
            <a:ext cx="278892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9856" y="2670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19856" y="2999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 err="1">
                <a:solidFill>
                  <a:srgbClr val="C8DFF0"/>
                </a:solidFill>
                <a:latin typeface="Courier New"/>
                <a:ea typeface="+mn-lt"/>
                <a:cs typeface="Courier New"/>
              </a:rPr>
              <a:t>Acumulado</a:t>
            </a:r>
            <a:r>
              <a:rPr lang="en-US" sz="850" dirty="0">
                <a:solidFill>
                  <a:srgbClr val="C8DFF0"/>
                </a:solidFill>
                <a:latin typeface="Courier New"/>
                <a:ea typeface="+mn-lt"/>
                <a:cs typeface="Courier New"/>
              </a:rPr>
              <a:t> </a:t>
            </a:r>
            <a:r>
              <a:rPr lang="en-US" sz="850" dirty="0" err="1">
                <a:solidFill>
                  <a:srgbClr val="C8DFF0"/>
                </a:solidFill>
                <a:latin typeface="Courier New"/>
                <a:ea typeface="+mn-lt"/>
                <a:cs typeface="Courier New"/>
              </a:rPr>
              <a:t>anual</a:t>
            </a:r>
            <a:endParaRPr lang="pt-BR" dirty="0" err="1"/>
          </a:p>
        </p:txBody>
      </p:sp>
      <p:sp>
        <p:nvSpPr>
          <p:cNvPr id="27" name="Text 25"/>
          <p:cNvSpPr/>
          <p:nvPr/>
        </p:nvSpPr>
        <p:spPr>
          <a:xfrm>
            <a:off x="3419856" y="34472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 err="1">
                <a:solidFill>
                  <a:srgbClr val="C8DFF0"/>
                </a:solidFill>
                <a:latin typeface="Courier New"/>
                <a:ea typeface="+mn-lt"/>
                <a:cs typeface="Courier New"/>
              </a:rPr>
              <a:t>Acumulado</a:t>
            </a:r>
            <a:r>
              <a:rPr lang="en-US" sz="850" dirty="0">
                <a:solidFill>
                  <a:srgbClr val="C8DFF0"/>
                </a:solidFill>
                <a:latin typeface="Courier New"/>
                <a:ea typeface="+mn-lt"/>
                <a:cs typeface="Courier New"/>
              </a:rPr>
              <a:t> mensal</a:t>
            </a:r>
            <a:endParaRPr lang="pt-BR" dirty="0"/>
          </a:p>
        </p:txBody>
      </p:sp>
      <p:sp>
        <p:nvSpPr>
          <p:cNvPr id="28" name="Text 26"/>
          <p:cNvSpPr/>
          <p:nvPr/>
        </p:nvSpPr>
        <p:spPr>
          <a:xfrm>
            <a:off x="3419856" y="38953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 err="1">
                <a:solidFill>
                  <a:srgbClr val="C8DFF0"/>
                </a:solidFill>
                <a:latin typeface="Courier New"/>
                <a:ea typeface="+mn-lt"/>
                <a:cs typeface="Courier New"/>
              </a:rPr>
              <a:t>Periodo</a:t>
            </a:r>
            <a:r>
              <a:rPr lang="en-US" sz="850" dirty="0">
                <a:solidFill>
                  <a:srgbClr val="C8DFF0"/>
                </a:solidFill>
                <a:latin typeface="Courier New"/>
                <a:ea typeface="+mn-lt"/>
                <a:cs typeface="Courier New"/>
              </a:rPr>
              <a:t> </a:t>
            </a:r>
            <a:r>
              <a:rPr lang="en-US" sz="850" dirty="0" err="1">
                <a:solidFill>
                  <a:srgbClr val="C8DFF0"/>
                </a:solidFill>
                <a:latin typeface="Courier New"/>
                <a:ea typeface="+mn-lt"/>
                <a:cs typeface="Courier New"/>
              </a:rPr>
              <a:t>equivalente</a:t>
            </a:r>
            <a:r>
              <a:rPr lang="en-US" sz="850" dirty="0">
                <a:solidFill>
                  <a:srgbClr val="C8DFF0"/>
                </a:solidFill>
                <a:latin typeface="Courier New"/>
                <a:ea typeface="+mn-lt"/>
                <a:cs typeface="Courier New"/>
              </a:rPr>
              <a:t> no </a:t>
            </a:r>
            <a:r>
              <a:rPr lang="en-US" sz="850" dirty="0" err="1">
                <a:solidFill>
                  <a:srgbClr val="C8DFF0"/>
                </a:solidFill>
                <a:latin typeface="Courier New"/>
                <a:ea typeface="+mn-lt"/>
                <a:cs typeface="Courier New"/>
              </a:rPr>
              <a:t>ano</a:t>
            </a:r>
            <a:r>
              <a:rPr lang="en-US" sz="850" dirty="0">
                <a:solidFill>
                  <a:srgbClr val="C8DFF0"/>
                </a:solidFill>
                <a:latin typeface="Courier New"/>
                <a:ea typeface="+mn-lt"/>
                <a:cs typeface="Courier New"/>
              </a:rPr>
              <a:t> anterior</a:t>
            </a:r>
            <a:endParaRPr lang="pt-BR" dirty="0"/>
          </a:p>
        </p:txBody>
      </p:sp>
      <p:sp>
        <p:nvSpPr>
          <p:cNvPr id="29" name="Text 27"/>
          <p:cNvSpPr/>
          <p:nvPr/>
        </p:nvSpPr>
        <p:spPr>
          <a:xfrm>
            <a:off x="3419856" y="43434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crescimento_yoy_terremotos (YoY %)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36208" y="2596896"/>
            <a:ext cx="2788920" cy="2249424"/>
          </a:xfrm>
          <a:prstGeom prst="roundRect">
            <a:avLst>
              <a:gd name="adj" fmla="val 3252"/>
            </a:avLst>
          </a:prstGeom>
          <a:solidFill>
            <a:srgbClr val="112240"/>
          </a:solidFill>
          <a:ln w="15240">
            <a:solidFill>
              <a:srgbClr val="A78BFA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36208" y="2596896"/>
            <a:ext cx="278892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2670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+ Filtros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45936" y="2999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qtd_terremotos_revisados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45936" y="34472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qtd_terremotos_acumulado_geral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45936" y="38953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C8DFF0"/>
                </a:solidFill>
                <a:latin typeface="Courier New"/>
                <a:ea typeface="Courier New" pitchFamily="34" charset="-122"/>
                <a:cs typeface="Courier New"/>
              </a:rPr>
              <a:t>qtd_terremotos_ano_anterior</a:t>
            </a:r>
            <a:endParaRPr lang="pt-BR" dirty="0" err="1"/>
          </a:p>
        </p:txBody>
      </p:sp>
      <p:sp>
        <p:nvSpPr>
          <p:cNvPr id="36" name="Text 34"/>
          <p:cNvSpPr/>
          <p:nvPr/>
        </p:nvSpPr>
        <p:spPr>
          <a:xfrm>
            <a:off x="6345936" y="43434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>
              <a:solidFill>
                <a:srgbClr val="C8DFF0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Row-Level Security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papéis — acesso por hemisfério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8375904" cy="566928"/>
          </a:xfrm>
          <a:prstGeom prst="roundRect">
            <a:avLst>
              <a:gd name="adj" fmla="val 12903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167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coluna calculada em dim_localizacao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hemisferio = IF( dim_localizacao[lat] &lt; 0, "Sul", "Norte" 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" y="196596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965960"/>
            <a:ext cx="4114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20482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22860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Norte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21208" y="2798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DAX: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1208" y="3017520"/>
            <a:ext cx="3803904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72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[hemisferio] = "Norte"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" y="34930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apenas eventos do Hemisfério Norte (lat ≥ 0). Sem acesso a dados sul-americanos e oceânicos do sul.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64608" y="196596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112240"/>
          </a:solidFill>
          <a:ln w="15240">
            <a:solidFill>
              <a:srgbClr val="FF6B6B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64608" y="1965960"/>
            <a:ext cx="411480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0482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01768" y="22860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Sul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001768" y="2798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DAX: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01768" y="3017520"/>
            <a:ext cx="3803904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072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[hemisferio] = "Sul"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01768" y="34930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apenas eventos do Hemisfério Sul (lat &lt; 0). Inclui Brasil, Argentina, Oceania, Antártica.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4846320"/>
            <a:ext cx="8375904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4956048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91947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via 'View as Roles' no Power BI Desktop — prints no repositório GitHub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</a:t>
            </a:r>
            <a:r>
              <a:rPr lang="en-US" sz="30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páginas</a:t>
            </a: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· demo </a:t>
            </a:r>
            <a:r>
              <a:rPr lang="en-US" sz="30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ao</a:t>
            </a: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vivo</a:t>
            </a:r>
          </a:p>
          <a:p>
            <a:r>
              <a:rPr lang="en-US" sz="1100" u="sng" dirty="0">
                <a:solidFill>
                  <a:srgbClr val="0C0019"/>
                </a:solidFill>
                <a:latin typeface="Poppins"/>
                <a:ea typeface="Calibri"/>
                <a:cs typeface="Poppins"/>
                <a:hlinkClick r:id="rId3"/>
              </a:rPr>
              <a:t>https://github.com/davimoraisb/projetofinal_bi2</a:t>
            </a: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2798064" cy="3364992"/>
          </a:xfrm>
          <a:prstGeom prst="roundRect">
            <a:avLst>
              <a:gd name="adj" fmla="val 2614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61872"/>
            <a:ext cx="2798064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408176"/>
            <a:ext cx="2523744" cy="1417320"/>
          </a:xfrm>
          <a:prstGeom prst="roundRect">
            <a:avLst>
              <a:gd name="adj" fmla="val 3226"/>
            </a:avLst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22576"/>
            <a:ext cx="301752" cy="502920"/>
          </a:xfrm>
          <a:prstGeom prst="rect">
            <a:avLst/>
          </a:prstGeom>
          <a:solidFill>
            <a:srgbClr val="00C9A7">
              <a:alpha val="72000"/>
            </a:srgbClr>
          </a:solidFill>
          <a:ln w="12700">
            <a:solidFill>
              <a:srgbClr val="00C9A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48256"/>
            <a:ext cx="301752" cy="777240"/>
          </a:xfrm>
          <a:prstGeom prst="rect">
            <a:avLst/>
          </a:prstGeom>
          <a:solidFill>
            <a:srgbClr val="00C9A7">
              <a:alpha val="72000"/>
            </a:srgbClr>
          </a:solidFill>
          <a:ln w="12700">
            <a:solidFill>
              <a:srgbClr val="00C9A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2441448"/>
            <a:ext cx="301752" cy="384048"/>
          </a:xfrm>
          <a:prstGeom prst="rect">
            <a:avLst/>
          </a:prstGeom>
          <a:solidFill>
            <a:srgbClr val="00C9A7">
              <a:alpha val="72000"/>
            </a:srgbClr>
          </a:solidFill>
          <a:ln w="12700">
            <a:solidFill>
              <a:srgbClr val="00C9A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2167128"/>
            <a:ext cx="301752" cy="658368"/>
          </a:xfrm>
          <a:prstGeom prst="rect">
            <a:avLst/>
          </a:prstGeom>
          <a:solidFill>
            <a:srgbClr val="00C9A7">
              <a:alpha val="72000"/>
            </a:srgbClr>
          </a:solidFill>
          <a:ln w="12700">
            <a:solidFill>
              <a:srgbClr val="00C9A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2368296"/>
            <a:ext cx="301752" cy="457200"/>
          </a:xfrm>
          <a:prstGeom prst="rect">
            <a:avLst/>
          </a:prstGeom>
          <a:solidFill>
            <a:srgbClr val="00C9A7">
              <a:alpha val="72000"/>
            </a:srgbClr>
          </a:solidFill>
          <a:ln w="12700">
            <a:solidFill>
              <a:srgbClr val="00C9A7">
                <a:alpha val="7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907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1208" y="3090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21208" y="3520440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93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total, magnitude, YoY, % revisados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" y="3840480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130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temporal de eventos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208" y="4160520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330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global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0128" y="1261872"/>
            <a:ext cx="2798064" cy="3364992"/>
          </a:xfrm>
          <a:prstGeom prst="roundRect">
            <a:avLst>
              <a:gd name="adj" fmla="val 2614"/>
            </a:avLst>
          </a:prstGeom>
          <a:solidFill>
            <a:srgbClr val="112240"/>
          </a:solidFill>
          <a:ln w="15240">
            <a:solidFill>
              <a:srgbClr val="FF6B6B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0128" y="1261872"/>
            <a:ext cx="2798064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47288" y="1408176"/>
            <a:ext cx="2523744" cy="1417320"/>
          </a:xfrm>
          <a:prstGeom prst="roundRect">
            <a:avLst>
              <a:gd name="adj" fmla="val 3226"/>
            </a:avLst>
          </a:prstGeom>
          <a:solidFill>
            <a:srgbClr val="0A162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2322576"/>
            <a:ext cx="301752" cy="502920"/>
          </a:xfrm>
          <a:prstGeom prst="rect">
            <a:avLst/>
          </a:prstGeom>
          <a:solidFill>
            <a:srgbClr val="FF6B6B">
              <a:alpha val="72000"/>
            </a:srgbClr>
          </a:solidFill>
          <a:ln w="12700">
            <a:solidFill>
              <a:srgbClr val="FF6B6B">
                <a:alpha val="7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2048256"/>
            <a:ext cx="301752" cy="777240"/>
          </a:xfrm>
          <a:prstGeom prst="rect">
            <a:avLst/>
          </a:prstGeom>
          <a:solidFill>
            <a:srgbClr val="FF6B6B">
              <a:alpha val="72000"/>
            </a:srgbClr>
          </a:solidFill>
          <a:ln w="12700">
            <a:solidFill>
              <a:srgbClr val="FF6B6B">
                <a:alpha val="7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2441448"/>
            <a:ext cx="301752" cy="384048"/>
          </a:xfrm>
          <a:prstGeom prst="rect">
            <a:avLst/>
          </a:prstGeom>
          <a:solidFill>
            <a:srgbClr val="FF6B6B">
              <a:alpha val="72000"/>
            </a:srgbClr>
          </a:solidFill>
          <a:ln w="12700">
            <a:solidFill>
              <a:srgbClr val="FF6B6B">
                <a:alpha val="7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167128"/>
            <a:ext cx="301752" cy="658368"/>
          </a:xfrm>
          <a:prstGeom prst="rect">
            <a:avLst/>
          </a:prstGeom>
          <a:solidFill>
            <a:srgbClr val="FF6B6B">
              <a:alpha val="72000"/>
            </a:srgbClr>
          </a:solidFill>
          <a:ln w="12700">
            <a:solidFill>
              <a:srgbClr val="FF6B6B">
                <a:alpha val="7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2368296"/>
            <a:ext cx="301752" cy="457200"/>
          </a:xfrm>
          <a:prstGeom prst="rect">
            <a:avLst/>
          </a:prstGeom>
          <a:solidFill>
            <a:srgbClr val="FF6B6B">
              <a:alpha val="72000"/>
            </a:srgbClr>
          </a:solidFill>
          <a:ln w="12700">
            <a:solidFill>
              <a:srgbClr val="FF6B6B">
                <a:alpha val="7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2907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47288" y="3090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Operacional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447288" y="352044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3493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classe de magnitude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47288" y="384048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8130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média por região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47288" y="416052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41330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 MTD · Norte vs Sul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36208" y="1261872"/>
            <a:ext cx="2798064" cy="3364992"/>
          </a:xfrm>
          <a:prstGeom prst="roundRect">
            <a:avLst>
              <a:gd name="adj" fmla="val 2614"/>
            </a:avLst>
          </a:prstGeom>
          <a:solidFill>
            <a:srgbClr val="112240"/>
          </a:solidFill>
          <a:ln w="15240">
            <a:solidFill>
              <a:srgbClr val="A78BFA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6208" y="1261872"/>
            <a:ext cx="2798064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73368" y="1408176"/>
            <a:ext cx="2523744" cy="1417320"/>
          </a:xfrm>
          <a:prstGeom prst="roundRect">
            <a:avLst>
              <a:gd name="adj" fmla="val 3226"/>
            </a:avLst>
          </a:prstGeom>
          <a:solidFill>
            <a:srgbClr val="0A16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92240" y="2322576"/>
            <a:ext cx="301752" cy="502920"/>
          </a:xfrm>
          <a:prstGeom prst="rect">
            <a:avLst/>
          </a:prstGeom>
          <a:solidFill>
            <a:srgbClr val="A78BFA">
              <a:alpha val="72000"/>
            </a:srgbClr>
          </a:solidFill>
          <a:ln w="12700">
            <a:solidFill>
              <a:srgbClr val="A78BFA">
                <a:alpha val="7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2048256"/>
            <a:ext cx="301752" cy="777240"/>
          </a:xfrm>
          <a:prstGeom prst="rect">
            <a:avLst/>
          </a:prstGeom>
          <a:solidFill>
            <a:srgbClr val="A78BFA">
              <a:alpha val="72000"/>
            </a:srgbClr>
          </a:solidFill>
          <a:ln w="12700">
            <a:solidFill>
              <a:srgbClr val="A78BFA">
                <a:alpha val="7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06640" y="2441448"/>
            <a:ext cx="301752" cy="384048"/>
          </a:xfrm>
          <a:prstGeom prst="rect">
            <a:avLst/>
          </a:prstGeom>
          <a:solidFill>
            <a:srgbClr val="A78BFA">
              <a:alpha val="72000"/>
            </a:srgbClr>
          </a:solidFill>
          <a:ln w="12700">
            <a:solidFill>
              <a:srgbClr val="A78BFA">
                <a:alpha val="7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2167128"/>
            <a:ext cx="301752" cy="658368"/>
          </a:xfrm>
          <a:prstGeom prst="rect">
            <a:avLst/>
          </a:prstGeom>
          <a:solidFill>
            <a:srgbClr val="A78BFA">
              <a:alpha val="72000"/>
            </a:srgbClr>
          </a:solidFill>
          <a:ln w="12700">
            <a:solidFill>
              <a:srgbClr val="A78BFA">
                <a:alpha val="7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2368296"/>
            <a:ext cx="301752" cy="457200"/>
          </a:xfrm>
          <a:prstGeom prst="rect">
            <a:avLst/>
          </a:prstGeom>
          <a:solidFill>
            <a:srgbClr val="A78BFA">
              <a:alpha val="72000"/>
            </a:srgbClr>
          </a:solidFill>
          <a:ln w="12700">
            <a:solidFill>
              <a:srgbClr val="A78BFA">
                <a:alpha val="7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2907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73368" y="3090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Geográfico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373368" y="352044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3493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detalhado por localização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73368" y="384048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38130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locais por frequência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73368" y="416052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41330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hemisfério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84048" y="4773168"/>
            <a:ext cx="8375904" cy="402336"/>
          </a:xfrm>
          <a:prstGeom prst="roundRect">
            <a:avLst>
              <a:gd name="adj" fmla="val 15909"/>
            </a:avLst>
          </a:prstGeom>
          <a:solidFill>
            <a:srgbClr val="FF6B6B">
              <a:alpha val="12000"/>
            </a:srgbClr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103120"/>
            <a:ext cx="4114800" cy="411480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final não é o relatório.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decisão que ele permite tomar.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029968"/>
            <a:ext cx="7772400" cy="18288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194560"/>
            <a:ext cx="4572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94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· 1 fato + 4 dimensões · surrogate keys · granularidade por evento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688336"/>
            <a:ext cx="45720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8833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medidas DAX · básicas, time intelligence (TOTALYTD, TOTALMTD, DATEADD) e CALCULATE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3182112"/>
            <a:ext cx="4572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821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em Power Query com tipagem en-US e deduplicação explícita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675888"/>
            <a:ext cx="45720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758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com 2 papéis (Analista Norte / Sul) testados e documentados com prints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4169664"/>
            <a:ext cx="4572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966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3 páginas distintas orientadas à decisão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Morais Bicalho · Matheus Perfeito Silveira · CEUB BI II · Junho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9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40</cp:revision>
  <dcterms:created xsi:type="dcterms:W3CDTF">2026-06-23T02:34:31Z</dcterms:created>
  <dcterms:modified xsi:type="dcterms:W3CDTF">2026-06-23T11:29:22Z</dcterms:modified>
</cp:coreProperties>
</file>