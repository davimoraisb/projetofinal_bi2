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Apresentar dupla e tema — 30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Problema, hipóteses, critério de sucesso e stakeholders — estes três últimos se conectam diretamente ao RLS.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Destacar vinculação explícita entre KRs e KPIs — isso é o que o professor avalia.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Destacar a coluna calculada hemisferio em dim_localizacao — é a base do RLS.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Focar na tipagem en-US — detalhe técnico que evita erros silenciosos com ponto decimal.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Destacar crescimento_yoy_terremotos: VAR/RETURN + ISBLANK + DIVIDE. O professor costuma perguntar.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DEMONSTRAR ao vivo a troca de papel. Mostrar que com Analista Sul o Brasil aparece; com Norte não.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PRINCIPAL. Abrir Power BI Desktop com o .pbip do GitHub. Navegar pelas 3 páginas. Tempo sugerido: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seg. Fechar com a frase do Pedro Mello — mostra que leram o material. Abrir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840480" cy="384048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834640"/>
            <a:ext cx="41148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II — CEUB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 Analytics Dashboard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eventos sísmicos globais · Dados USGS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 Morais Bicalho · Matheus Perfeito Silveira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Problema de Negócio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Monitoramento Geofísico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45720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167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1536192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BI de um centro de monitoramento sísmico precisa de visão unificada dos dados USGS para apoiar decisões de gestão de risco e resposta a emergências.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3167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DO NEGÓCIO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846320" y="1591056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6362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se concentram terremotos de maior magnitude?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920240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89280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frequência de eventos está crescendo no tempo?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249424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22199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% dos eventos passou por revisão científica?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035808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1181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85800" y="3337560"/>
            <a:ext cx="3520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Anel de Fogo = maior concentração de magnitude alta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automáticos têm precisão menor que revisados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baixa → maior impacto na superfície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035808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1181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SUCESSO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846320" y="33375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utilizado pelo gestor para priorizar recursos de resposta em &lt; 24h após evento sísmico de magnitude ≥ 6.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736592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" y="4818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STAKEHOLDERS:  Diretor do centro (visão executiva)  ·  Analista Norte  ·  Analista Sul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KPIs &amp; OKRs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medimos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261872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61872"/>
            <a:ext cx="1572768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350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75488" y="1536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Eventos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1956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qtd_total_terremotos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" y="2286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93976" y="1261872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93976" y="1261872"/>
            <a:ext cx="1572768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85416" y="13350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185416" y="1536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Média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185416" y="1956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magnitude_media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85416" y="2286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Richter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03904" y="1261872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03904" y="1261872"/>
            <a:ext cx="1572768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95344" y="13350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95344" y="1536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Revisados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95344" y="1956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percentual_terremotos_revisados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95344" y="2286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513832" y="1261872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13832" y="1261872"/>
            <a:ext cx="1572768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05272" y="13350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605272" y="1536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YoY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05272" y="1956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crescimento_yoy_terremotos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05272" y="2286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223760" y="1261872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23760" y="1261872"/>
            <a:ext cx="1572768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13350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315200" y="1536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Locais Únicos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315200" y="1956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qtd_locais_unicos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2286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84048" y="2834640"/>
            <a:ext cx="8375904" cy="822960"/>
          </a:xfrm>
          <a:prstGeom prst="roundRect">
            <a:avLst>
              <a:gd name="adj" fmla="val 8889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84048" y="2834640"/>
            <a:ext cx="45720" cy="8229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2926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— Aumentar capacidade analítica de resposta a eventos críticos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" y="32369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KR1: Identificar magnitudes &gt; 6 em &lt; 2h  [magnitude_maxima]   ·   KR2: 90% revisados até Q4  [percentual_terremotos_revisados]   ·   KR3: 100% regiões cobertas  [qtd_locais_unicos]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84048" y="3822192"/>
            <a:ext cx="8375904" cy="822960"/>
          </a:xfrm>
          <a:prstGeom prst="roundRect">
            <a:avLst>
              <a:gd name="adj" fmla="val 8889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4048" y="3822192"/>
            <a:ext cx="45720" cy="8229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3913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 — Garantir qualidade e confiabilidade dos dados monitorados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6928" y="42245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KR1: Taxa de revisão 60% → 85% até Dez/2026  [percentual_terremotos_revisados]   ·   KR2: Latência do YTD &lt; 24h  [qtd_terremotos_ano]   ·   KR3: Eventos sem local &lt; 5%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Modelagem Dimensional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1 Fato · 4 Dimensões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0" y="1417320"/>
            <a:ext cx="2743200" cy="2423160"/>
          </a:xfrm>
          <a:prstGeom prst="roundRect">
            <a:avLst>
              <a:gd name="adj" fmla="val 3396"/>
            </a:avLst>
          </a:prstGeom>
          <a:solidFill>
            <a:srgbClr val="0D2B4A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490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fato_terremotos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37560" y="18288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usgs_id (PK)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37560" y="20848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depth_km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37560" y="23408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37560" y="25968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id_status (FK)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37560" y="28529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id_mag (FK)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37560" y="31089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id_loc (FK)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37560" y="3364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id_calendario (FK)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1554480"/>
            <a:ext cx="2084832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5240">
            <a:solidFill>
              <a:srgbClr val="6B8CA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dim_calendario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" y="1938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id_calendario (PK)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" y="22128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· year · month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67712" y="2048256"/>
            <a:ext cx="932688" cy="9144"/>
          </a:xfrm>
          <a:prstGeom prst="line">
            <a:avLst/>
          </a:prstGeom>
          <a:noFill/>
          <a:ln w="12700">
            <a:solidFill>
              <a:srgbClr val="6B8CAE"/>
            </a:solidFill>
            <a:prstDash val="sysDot"/>
          </a:ln>
        </p:spPr>
      </p:sp>
      <p:sp>
        <p:nvSpPr>
          <p:cNvPr id="18" name="Shape 16"/>
          <p:cNvSpPr/>
          <p:nvPr/>
        </p:nvSpPr>
        <p:spPr>
          <a:xfrm>
            <a:off x="182880" y="3200400"/>
            <a:ext cx="2084832" cy="1280160"/>
          </a:xfrm>
          <a:prstGeom prst="roundRect">
            <a:avLst>
              <a:gd name="adj" fmla="val 5714"/>
            </a:avLst>
          </a:prstGeom>
          <a:solidFill>
            <a:srgbClr val="112240"/>
          </a:solidFill>
          <a:ln w="15240">
            <a:solidFill>
              <a:srgbClr val="6B8CA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2608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dim_localizacao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id_loc (PK)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2608" y="3858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· lon · location_desc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92608" y="4133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hemisferio (calculada)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67712" y="3840480"/>
            <a:ext cx="932688" cy="9144"/>
          </a:xfrm>
          <a:prstGeom prst="line">
            <a:avLst/>
          </a:prstGeom>
          <a:noFill/>
          <a:ln w="12700">
            <a:solidFill>
              <a:srgbClr val="6B8CAE"/>
            </a:solidFill>
            <a:prstDash val="sysDot"/>
          </a:ln>
        </p:spPr>
      </p:sp>
      <p:sp>
        <p:nvSpPr>
          <p:cNvPr id="24" name="Shape 22"/>
          <p:cNvSpPr/>
          <p:nvPr/>
        </p:nvSpPr>
        <p:spPr>
          <a:xfrm>
            <a:off x="6172200" y="1554480"/>
            <a:ext cx="2084832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5240">
            <a:solidFill>
              <a:srgbClr val="6B8CA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81928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dim_classificacao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81928" y="1938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id_mag (PK)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81928" y="22128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mag_type · magnitude_class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0" y="2048256"/>
            <a:ext cx="228600" cy="9144"/>
          </a:xfrm>
          <a:prstGeom prst="line">
            <a:avLst/>
          </a:prstGeom>
          <a:noFill/>
          <a:ln w="12700">
            <a:solidFill>
              <a:srgbClr val="6B8CAE"/>
            </a:solidFill>
            <a:prstDash val="sysDot"/>
          </a:ln>
        </p:spPr>
      </p:sp>
      <p:sp>
        <p:nvSpPr>
          <p:cNvPr id="29" name="Shape 27"/>
          <p:cNvSpPr/>
          <p:nvPr/>
        </p:nvSpPr>
        <p:spPr>
          <a:xfrm>
            <a:off x="6172200" y="3200400"/>
            <a:ext cx="2084832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5240">
            <a:solidFill>
              <a:srgbClr val="6B8CA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81928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dim_status_revisao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81928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id_status (PK)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81928" y="3858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review_status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0" y="3694176"/>
            <a:ext cx="228600" cy="9144"/>
          </a:xfrm>
          <a:prstGeom prst="line">
            <a:avLst/>
          </a:prstGeom>
          <a:noFill/>
          <a:ln w="12700">
            <a:solidFill>
              <a:srgbClr val="6B8CAE"/>
            </a:solidFill>
            <a:prstDash val="sysDot"/>
          </a:ln>
        </p:spPr>
      </p:sp>
      <p:sp>
        <p:nvSpPr>
          <p:cNvPr id="34" name="Shape 32"/>
          <p:cNvSpPr/>
          <p:nvPr/>
        </p:nvSpPr>
        <p:spPr>
          <a:xfrm>
            <a:off x="365760" y="4754880"/>
            <a:ext cx="8412480" cy="402336"/>
          </a:xfrm>
          <a:prstGeom prst="roundRect">
            <a:avLst>
              <a:gd name="adj" fmla="val 18182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8640" y="483717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Granularidade: 1 linha = 1 evento sísmico  ·  Chaves surrogadas com passo variável por dimensão  ·  Sem snowflake, sem many-to-many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ETL — Power Query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CSV bruto ao Star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261872"/>
            <a:ext cx="1572768" cy="160020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353312"/>
            <a:ext cx="402336" cy="40233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7160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CSV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15798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UTF-8, vírgula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colunas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21408" y="1261872"/>
            <a:ext cx="1572768" cy="160020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353312"/>
            <a:ext cx="402336" cy="40233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37160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9456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en-US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94560" y="215798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lat, lon, depth, mag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decimal correto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58768" y="1261872"/>
            <a:ext cx="1572768" cy="160020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1353312"/>
            <a:ext cx="402336" cy="40233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37160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3192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Deduplicação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31920" y="215798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combinação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colunas-chave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96128" y="1261872"/>
            <a:ext cx="1572768" cy="160020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353312"/>
            <a:ext cx="402336" cy="40233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37160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215798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Extrai, remove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duplicatas, índice SK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33488" y="1261872"/>
            <a:ext cx="1572768" cy="160020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09560" y="1353312"/>
            <a:ext cx="402336" cy="40233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137160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0664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(FK)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06640" y="215798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Outer Join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dim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" y="2999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GERADAS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3291840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3364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fato_terremotos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121408" y="3291840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112240"/>
          </a:solidFill>
          <a:ln w="15240">
            <a:solidFill>
              <a:srgbClr val="6B8CA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194560" y="3364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dim_calendario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858768" y="3291840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112240"/>
          </a:solidFill>
          <a:ln w="15240">
            <a:solidFill>
              <a:srgbClr val="6B8CA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931920" y="3364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dim_localizacao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96128" y="3291840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112240"/>
          </a:solidFill>
          <a:ln w="15240">
            <a:solidFill>
              <a:srgbClr val="6B8CA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669280" y="3364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dim_classificacao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333488" y="3291840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112240"/>
          </a:solidFill>
          <a:ln w="15240">
            <a:solidFill>
              <a:srgbClr val="6B8CA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06640" y="3364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dim_status_revisao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4048" y="3858768"/>
            <a:ext cx="8375904" cy="950976"/>
          </a:xfrm>
          <a:prstGeom prst="roundRect">
            <a:avLst>
              <a:gd name="adj" fmla="val 7692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94360" y="39319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APLICADAS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" y="4251960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" y="4224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em todas as colunas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92040" y="4251960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65776" y="4224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e duplicatas tratados explicitamente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4360" y="4544568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" y="4517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Localidade en-US na tipagem (evita erro decimal)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92040" y="4544568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65776" y="4517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medidas separada (medidas.tmdl)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Medidas DAX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medidas · 3 categorias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261872"/>
            <a:ext cx="1993392" cy="1170432"/>
          </a:xfrm>
          <a:prstGeom prst="roundRect">
            <a:avLst>
              <a:gd name="adj" fmla="val 6250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316736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84048" y="193852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(Agregação)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0" y="1261872"/>
            <a:ext cx="1993392" cy="1170432"/>
          </a:xfrm>
          <a:prstGeom prst="roundRect">
            <a:avLst>
              <a:gd name="adj" fmla="val 6250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316736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560320" y="193852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36592" y="1261872"/>
            <a:ext cx="1993392" cy="1170432"/>
          </a:xfrm>
          <a:prstGeom prst="roundRect">
            <a:avLst>
              <a:gd name="adj" fmla="val 6250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6592" y="1316736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736592" y="193852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Filtros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12864" y="1261872"/>
            <a:ext cx="1993392" cy="1170432"/>
          </a:xfrm>
          <a:prstGeom prst="roundRect">
            <a:avLst>
              <a:gd name="adj" fmla="val 6250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12864" y="1316736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912864" y="193852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596896"/>
            <a:ext cx="2788920" cy="2249424"/>
          </a:xfrm>
          <a:prstGeom prst="roundRect">
            <a:avLst>
              <a:gd name="adj" fmla="val 3252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596896"/>
            <a:ext cx="278892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2670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" y="29992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COUNT(fato_terremotos[usgs_id])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3776" y="34472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AVERAGE([magnitude])  /  MAX([magnitude])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3776" y="38953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AVERAGE([depth_km])  /  MAX([depth_km])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3776" y="43434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DISTINCTCOUNT([location_desc])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10128" y="2596896"/>
            <a:ext cx="2788920" cy="2249424"/>
          </a:xfrm>
          <a:prstGeom prst="roundRect">
            <a:avLst>
              <a:gd name="adj" fmla="val 3252"/>
            </a:avLst>
          </a:prstGeom>
          <a:solidFill>
            <a:srgbClr val="112240"/>
          </a:solidFill>
          <a:ln w="15240">
            <a:solidFill>
              <a:srgbClr val="FF6B6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10128" y="2596896"/>
            <a:ext cx="2788920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9856" y="2670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19856" y="29992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TOTALYTD → qtd_terremotos_ano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19856" y="34472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TOTALMTD → qtd_terremotos_mes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19856" y="38953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DATEADD(-1, YEAR) → ano anterior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19856" y="43434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crescimento_yoy_terremotos (YoY %)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36208" y="2596896"/>
            <a:ext cx="2788920" cy="2249424"/>
          </a:xfrm>
          <a:prstGeom prst="roundRect">
            <a:avLst>
              <a:gd name="adj" fmla="val 3252"/>
            </a:avLst>
          </a:prstGeom>
          <a:solidFill>
            <a:srgbClr val="112240"/>
          </a:solidFill>
          <a:ln w="1524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36208" y="2596896"/>
            <a:ext cx="278892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2670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+ Filtros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45936" y="29992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qtd_terremotos_revisados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45936" y="34472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qtd_terremotos_acumulado_geral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45936" y="38953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percentual_terremotos_revisados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45936" y="43434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magnitude_media_global (ALL)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Row-Level Security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papéis — acesso por hemisfério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261872"/>
            <a:ext cx="8375904" cy="566928"/>
          </a:xfrm>
          <a:prstGeom prst="roundRect">
            <a:avLst>
              <a:gd name="adj" fmla="val 12903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167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coluna calculada em dim_localizacao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hemisferio = IF( dim_localizacao[lat] &lt; 0, "Sul", "Norte" 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4048" y="196596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965960"/>
            <a:ext cx="41148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20482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1208" y="22860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Norte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21208" y="27980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DAX: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21208" y="3017520"/>
            <a:ext cx="3803904" cy="384048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723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[hemisferio] = "Norte"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" y="34930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apenas eventos do Hemisfério Norte (lat ≥ 0). Sem acesso a dados sul-americanos e oceânicos do sul.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64608" y="196596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112240"/>
          </a:solidFill>
          <a:ln w="15240">
            <a:solidFill>
              <a:srgbClr val="FF6B6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64608" y="1965960"/>
            <a:ext cx="4114800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20482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01768" y="22860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Sul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001768" y="27980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DAX: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01768" y="3017520"/>
            <a:ext cx="3803904" cy="384048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30723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[hemisferio] = "Sul"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01768" y="34930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apenas eventos do Hemisfério Sul (lat &lt; 0). Inclui Brasil, Argentina, Oceania, Antártica.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4846320"/>
            <a:ext cx="8375904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4956048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91947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 via 'View as Roles' no Power BI Desktop — prints no repositório GitHub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Dashboard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páginas · demo ao vivo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261872"/>
            <a:ext cx="2798064" cy="3364992"/>
          </a:xfrm>
          <a:prstGeom prst="roundRect">
            <a:avLst>
              <a:gd name="adj" fmla="val 2614"/>
            </a:avLst>
          </a:prstGeom>
          <a:solidFill>
            <a:srgbClr val="112240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61872"/>
            <a:ext cx="2798064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408176"/>
            <a:ext cx="2523744" cy="1417320"/>
          </a:xfrm>
          <a:prstGeom prst="roundRect">
            <a:avLst>
              <a:gd name="adj" fmla="val 3226"/>
            </a:avLst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22576"/>
            <a:ext cx="301752" cy="502920"/>
          </a:xfrm>
          <a:prstGeom prst="rect">
            <a:avLst/>
          </a:prstGeom>
          <a:solidFill>
            <a:srgbClr val="00C9A7">
              <a:alpha val="72000"/>
            </a:srgbClr>
          </a:solidFill>
          <a:ln w="12700">
            <a:solidFill>
              <a:srgbClr val="00C9A7">
                <a:alpha val="7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048256"/>
            <a:ext cx="301752" cy="777240"/>
          </a:xfrm>
          <a:prstGeom prst="rect">
            <a:avLst/>
          </a:prstGeom>
          <a:solidFill>
            <a:srgbClr val="00C9A7">
              <a:alpha val="72000"/>
            </a:srgbClr>
          </a:solidFill>
          <a:ln w="12700">
            <a:solidFill>
              <a:srgbClr val="00C9A7">
                <a:alpha val="7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2441448"/>
            <a:ext cx="301752" cy="384048"/>
          </a:xfrm>
          <a:prstGeom prst="rect">
            <a:avLst/>
          </a:prstGeom>
          <a:solidFill>
            <a:srgbClr val="00C9A7">
              <a:alpha val="72000"/>
            </a:srgbClr>
          </a:solidFill>
          <a:ln w="12700">
            <a:solidFill>
              <a:srgbClr val="00C9A7">
                <a:alpha val="7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2167128"/>
            <a:ext cx="301752" cy="658368"/>
          </a:xfrm>
          <a:prstGeom prst="rect">
            <a:avLst/>
          </a:prstGeom>
          <a:solidFill>
            <a:srgbClr val="00C9A7">
              <a:alpha val="72000"/>
            </a:srgbClr>
          </a:solidFill>
          <a:ln w="12700">
            <a:solidFill>
              <a:srgbClr val="00C9A7">
                <a:alpha val="7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2368296"/>
            <a:ext cx="301752" cy="457200"/>
          </a:xfrm>
          <a:prstGeom prst="rect">
            <a:avLst/>
          </a:prstGeom>
          <a:solidFill>
            <a:srgbClr val="00C9A7">
              <a:alpha val="72000"/>
            </a:srgbClr>
          </a:solidFill>
          <a:ln w="12700">
            <a:solidFill>
              <a:srgbClr val="00C9A7">
                <a:alpha val="7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907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1208" y="30906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21208" y="3520440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930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total, magnitude, YoY, % revisados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" y="3840480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130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temporal de eventos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1208" y="4160520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1330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global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10128" y="1261872"/>
            <a:ext cx="2798064" cy="3364992"/>
          </a:xfrm>
          <a:prstGeom prst="roundRect">
            <a:avLst>
              <a:gd name="adj" fmla="val 2614"/>
            </a:avLst>
          </a:prstGeom>
          <a:solidFill>
            <a:srgbClr val="112240"/>
          </a:solidFill>
          <a:ln w="15240">
            <a:solidFill>
              <a:srgbClr val="FF6B6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10128" y="1261872"/>
            <a:ext cx="2798064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47288" y="1408176"/>
            <a:ext cx="2523744" cy="1417320"/>
          </a:xfrm>
          <a:prstGeom prst="roundRect">
            <a:avLst>
              <a:gd name="adj" fmla="val 3226"/>
            </a:avLst>
          </a:prstGeom>
          <a:solidFill>
            <a:srgbClr val="0A162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66160" y="2322576"/>
            <a:ext cx="301752" cy="502920"/>
          </a:xfrm>
          <a:prstGeom prst="rect">
            <a:avLst/>
          </a:prstGeom>
          <a:solidFill>
            <a:srgbClr val="FF6B6B">
              <a:alpha val="72000"/>
            </a:srgbClr>
          </a:solidFill>
          <a:ln w="12700">
            <a:solidFill>
              <a:srgbClr val="FF6B6B">
                <a:alpha val="7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0" y="2048256"/>
            <a:ext cx="301752" cy="777240"/>
          </a:xfrm>
          <a:prstGeom prst="rect">
            <a:avLst/>
          </a:prstGeom>
          <a:solidFill>
            <a:srgbClr val="FF6B6B">
              <a:alpha val="72000"/>
            </a:srgbClr>
          </a:solidFill>
          <a:ln w="12700">
            <a:solidFill>
              <a:srgbClr val="FF6B6B">
                <a:alpha val="7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2441448"/>
            <a:ext cx="301752" cy="384048"/>
          </a:xfrm>
          <a:prstGeom prst="rect">
            <a:avLst/>
          </a:prstGeom>
          <a:solidFill>
            <a:srgbClr val="FF6B6B">
              <a:alpha val="72000"/>
            </a:srgbClr>
          </a:solidFill>
          <a:ln w="12700">
            <a:solidFill>
              <a:srgbClr val="FF6B6B">
                <a:alpha val="7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2167128"/>
            <a:ext cx="301752" cy="658368"/>
          </a:xfrm>
          <a:prstGeom prst="rect">
            <a:avLst/>
          </a:prstGeom>
          <a:solidFill>
            <a:srgbClr val="FF6B6B">
              <a:alpha val="72000"/>
            </a:srgbClr>
          </a:solidFill>
          <a:ln w="12700">
            <a:solidFill>
              <a:srgbClr val="FF6B6B">
                <a:alpha val="7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0" y="2368296"/>
            <a:ext cx="301752" cy="457200"/>
          </a:xfrm>
          <a:prstGeom prst="rect">
            <a:avLst/>
          </a:prstGeom>
          <a:solidFill>
            <a:srgbClr val="FF6B6B">
              <a:alpha val="72000"/>
            </a:srgbClr>
          </a:solidFill>
          <a:ln w="12700">
            <a:solidFill>
              <a:srgbClr val="FF6B6B">
                <a:alpha val="7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7288" y="2907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47288" y="30906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Operacional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447288" y="3520440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34930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classe de magnitude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47288" y="3840480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8130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média por região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47288" y="4160520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1880" y="41330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e MTD · Norte vs Sul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36208" y="1261872"/>
            <a:ext cx="2798064" cy="3364992"/>
          </a:xfrm>
          <a:prstGeom prst="roundRect">
            <a:avLst>
              <a:gd name="adj" fmla="val 2614"/>
            </a:avLst>
          </a:prstGeom>
          <a:solidFill>
            <a:srgbClr val="112240"/>
          </a:solidFill>
          <a:ln w="1524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36208" y="1261872"/>
            <a:ext cx="2798064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73368" y="1408176"/>
            <a:ext cx="2523744" cy="1417320"/>
          </a:xfrm>
          <a:prstGeom prst="roundRect">
            <a:avLst>
              <a:gd name="adj" fmla="val 3226"/>
            </a:avLst>
          </a:prstGeom>
          <a:solidFill>
            <a:srgbClr val="0A162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92240" y="2322576"/>
            <a:ext cx="301752" cy="502920"/>
          </a:xfrm>
          <a:prstGeom prst="rect">
            <a:avLst/>
          </a:prstGeom>
          <a:solidFill>
            <a:srgbClr val="A78BFA">
              <a:alpha val="72000"/>
            </a:srgbClr>
          </a:solidFill>
          <a:ln w="12700">
            <a:solidFill>
              <a:srgbClr val="A78BFA">
                <a:alpha val="7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9440" y="2048256"/>
            <a:ext cx="301752" cy="777240"/>
          </a:xfrm>
          <a:prstGeom prst="rect">
            <a:avLst/>
          </a:prstGeom>
          <a:solidFill>
            <a:srgbClr val="A78BFA">
              <a:alpha val="72000"/>
            </a:srgbClr>
          </a:solidFill>
          <a:ln w="12700">
            <a:solidFill>
              <a:srgbClr val="A78BFA">
                <a:alpha val="7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06640" y="2441448"/>
            <a:ext cx="301752" cy="384048"/>
          </a:xfrm>
          <a:prstGeom prst="rect">
            <a:avLst/>
          </a:prstGeom>
          <a:solidFill>
            <a:srgbClr val="A78BFA">
              <a:alpha val="72000"/>
            </a:srgbClr>
          </a:solidFill>
          <a:ln w="12700">
            <a:solidFill>
              <a:srgbClr val="A78BFA">
                <a:alpha val="7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0" y="2167128"/>
            <a:ext cx="301752" cy="658368"/>
          </a:xfrm>
          <a:prstGeom prst="rect">
            <a:avLst/>
          </a:prstGeom>
          <a:solidFill>
            <a:srgbClr val="A78BFA">
              <a:alpha val="72000"/>
            </a:srgbClr>
          </a:solidFill>
          <a:ln w="12700">
            <a:solidFill>
              <a:srgbClr val="A78BFA">
                <a:alpha val="7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21040" y="2368296"/>
            <a:ext cx="301752" cy="457200"/>
          </a:xfrm>
          <a:prstGeom prst="rect">
            <a:avLst/>
          </a:prstGeom>
          <a:solidFill>
            <a:srgbClr val="A78BFA">
              <a:alpha val="72000"/>
            </a:srgbClr>
          </a:solidFill>
          <a:ln w="12700">
            <a:solidFill>
              <a:srgbClr val="A78BFA">
                <a:alpha val="72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2907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73368" y="30906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Geográfico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6373368" y="3520440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34930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detalhado por localização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73368" y="3840480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38130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locais por frequência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73368" y="4160520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41330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hemisfério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84048" y="4773168"/>
            <a:ext cx="8375904" cy="402336"/>
          </a:xfrm>
          <a:prstGeom prst="roundRect">
            <a:avLst>
              <a:gd name="adj" fmla="val 15909"/>
            </a:avLst>
          </a:prstGeom>
          <a:solidFill>
            <a:srgbClr val="FF6B6B">
              <a:alpha val="12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4864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DEMO AO VIVO: abrir projetofinal.pbip no Power BI Desktop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2103120"/>
            <a:ext cx="4114800" cy="4114800"/>
          </a:xfrm>
          <a:prstGeom prst="ellipse">
            <a:avLst/>
          </a:prstGeom>
          <a:solidFill>
            <a:srgbClr val="00C9A7">
              <a:alpha val="7000"/>
            </a:srgbClr>
          </a:solidFill>
          <a:ln w="12700">
            <a:solidFill>
              <a:srgbClr val="00C9A7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final não é o relatório.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decisão que ele permite tomar.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2029968"/>
            <a:ext cx="7772400" cy="18288"/>
          </a:xfrm>
          <a:prstGeom prst="rect">
            <a:avLst/>
          </a:prstGeom>
          <a:solidFill>
            <a:srgbClr val="6B8CAE"/>
          </a:solidFill>
          <a:ln w="12700">
            <a:solidFill>
              <a:srgbClr val="6B8C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194560"/>
            <a:ext cx="45720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94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· 1 fato + 4 dimensões · surrogate keys · granularidade por evento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688336"/>
            <a:ext cx="45720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8833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medidas DAX · básicas, time intelligence (TOTALYTD, TOTALMTD, DATEADD) e CALCULATE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3182112"/>
            <a:ext cx="45720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821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em Power Query com tipagem en-US e deduplicação explícita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675888"/>
            <a:ext cx="45720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758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com 2 papéis (Analista Norte / Sul) testados e documentados com prints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4169664"/>
            <a:ext cx="45720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6966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 3 páginas distintas orientadas à decisão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 Morais Bicalho · Matheus Perfeito Silveira · CEUB BI II · Junho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2026-06-23T02:34:31Z</dcterms:created>
  <dcterms:modified xsi:type="dcterms:W3CDTF">2026-06-23T02:34:31Z</dcterms:modified>
</cp:coreProperties>
</file>